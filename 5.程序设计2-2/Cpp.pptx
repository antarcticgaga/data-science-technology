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3"/>
    <p:sldId id="257" r:id="rId5"/>
    <p:sldId id="258" r:id="rId6"/>
    <p:sldId id="259" r:id="rId7"/>
    <p:sldId id="261" r:id="rId8"/>
    <p:sldId id="260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4" y="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C++ Programming Language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by Chunli Lv 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OutLine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1. Preparation of the teaching session (in terms of PPT, lesson plan, lecture notes and other materials)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2. Academic competence &amp; Teaching experience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3. Structure, content, logic, teaching method, manner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4. English level (in terms of clarity and fluency in English and oral expression, accents etc)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5. Effective communication with and motivation to students 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6. Respect Chinese culture and traditions with constructive system of values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1. Preparation of the teaching session (in terms of PPT, lesson plan, lecture notes and other materials)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  <a:p>
            <a:r>
              <a:rPr lang="en-US" altLang="zh-CN"/>
              <a:t>Website of Teaching.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Same projects  as those  for  students in Computer Department in CIEE.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Online Judge  system for TA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About 100+  Online Judge Problems.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About 30+ Coding example in class.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  <a:p>
            <a:pPr marL="0" indent="0">
              <a:buNone/>
            </a:pP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2. Academic competence &amp; Teaching experience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buFont typeface="Wingdings" panose="05000000000000000000" charset="0"/>
              <a:buChar char="l"/>
            </a:pPr>
            <a:r>
              <a:rPr lang="en-US" altLang="zh-CN"/>
              <a:t>Education.</a:t>
            </a:r>
            <a:endParaRPr lang="en-US" altLang="zh-CN"/>
          </a:p>
          <a:p>
            <a:pPr lvl="1">
              <a:buFont typeface="Wingdings" panose="05000000000000000000" charset="0"/>
              <a:buChar char="Ø"/>
            </a:pPr>
            <a:r>
              <a:rPr lang="en-US" altLang="zh-CN"/>
              <a:t>Visiting Scholar (2013/09-2014/08) College of Information Sciences &amp; Technology, Penn State University.</a:t>
            </a:r>
            <a:endParaRPr lang="en-US" altLang="zh-CN"/>
          </a:p>
          <a:p>
            <a:pPr lvl="1">
              <a:buFont typeface="Wingdings" panose="05000000000000000000" charset="0"/>
              <a:buChar char="Ø"/>
            </a:pPr>
            <a:r>
              <a:rPr lang="en-US" altLang="zh-CN"/>
              <a:t>PHD (2006/03 – 2011/07)  State Key Lab of Information Security,University of Chinese Academy of Sciences.</a:t>
            </a:r>
            <a:endParaRPr lang="en-US" altLang="zh-CN"/>
          </a:p>
          <a:p>
            <a:pPr lvl="1">
              <a:buFont typeface="Wingdings" panose="05000000000000000000" charset="0"/>
              <a:buChar char="Ø"/>
            </a:pPr>
            <a:r>
              <a:rPr lang="en-US" altLang="zh-CN"/>
              <a:t>MASTER (2000/09 - 2003/07) State key Lab of Cognitive Science, University of Chinese Academy of Sciences.</a:t>
            </a:r>
            <a:endParaRPr lang="en-US" altLang="zh-CN"/>
          </a:p>
          <a:p>
            <a:pPr lvl="1">
              <a:buFont typeface="Wingdings" panose="05000000000000000000" charset="0"/>
              <a:buChar char="Ø"/>
            </a:pPr>
            <a:r>
              <a:rPr lang="en-US" altLang="zh-CN"/>
              <a:t>BACHELOR(1996/09- 2000/07)  Department of Computer Science, China Agricultural University.</a:t>
            </a:r>
            <a:endParaRPr lang="en-US" altLang="zh-CN"/>
          </a:p>
          <a:p>
            <a:pPr lvl="0">
              <a:buFont typeface="Wingdings" panose="05000000000000000000" charset="0"/>
              <a:buChar char="l"/>
            </a:pPr>
            <a:r>
              <a:rPr lang="en-US" altLang="zh-CN"/>
              <a:t>Research.</a:t>
            </a:r>
            <a:endParaRPr lang="en-US" altLang="zh-CN"/>
          </a:p>
          <a:p>
            <a:pPr lvl="1">
              <a:buFont typeface="Wingdings" panose="05000000000000000000" charset="0"/>
              <a:buChar char="Ø"/>
            </a:pPr>
            <a:r>
              <a:rPr lang="en-US" altLang="zh-CN"/>
              <a:t>Network &amp; System Security, Block Chain.</a:t>
            </a:r>
            <a:endParaRPr lang="en-US" altLang="zh-CN"/>
          </a:p>
          <a:p>
            <a:pPr lvl="1">
              <a:buFont typeface="Wingdings" panose="05000000000000000000" charset="0"/>
              <a:buChar char="Ø"/>
            </a:pPr>
            <a:r>
              <a:rPr lang="en-US" altLang="zh-CN"/>
              <a:t>Publications: 6 EI papers,  6 Patents, 1 NSFC  GRANTS.</a:t>
            </a:r>
            <a:endParaRPr lang="en-US" altLang="zh-CN"/>
          </a:p>
          <a:p>
            <a:pPr lvl="1">
              <a:buFont typeface="Wingdings" panose="05000000000000000000" charset="0"/>
              <a:buChar char="Ø"/>
            </a:pP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296035"/>
            <a:ext cx="10852150" cy="5370195"/>
          </a:xfrm>
        </p:spPr>
        <p:txBody>
          <a:bodyPr/>
          <a:p>
            <a:r>
              <a:rPr lang="en-US" altLang="zh-CN">
                <a:sym typeface="+mn-ea"/>
              </a:rPr>
              <a:t>16 years teaching experience. (Since 2003)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In charge of  two MOOCs</a:t>
            </a:r>
            <a:endParaRPr lang="en-US" altLang="zh-CN">
              <a:sym typeface="+mn-ea"/>
            </a:endParaRPr>
          </a:p>
          <a:p>
            <a:pPr lvl="1">
              <a:buFont typeface="Wingdings" panose="05000000000000000000" charset="0"/>
              <a:buChar char="Ø"/>
            </a:pPr>
            <a:r>
              <a:rPr lang="en-US" altLang="zh-CN">
                <a:sym typeface="+mn-ea"/>
              </a:rPr>
              <a:t>C programming language,</a:t>
            </a:r>
            <a:endParaRPr lang="en-US" altLang="zh-CN">
              <a:sym typeface="+mn-ea"/>
            </a:endParaRPr>
          </a:p>
          <a:p>
            <a:pPr lvl="1">
              <a:buFont typeface="Wingdings" panose="05000000000000000000" charset="0"/>
              <a:buChar char="Ø"/>
            </a:pPr>
            <a:r>
              <a:rPr lang="en-US" altLang="zh-CN">
                <a:sym typeface="+mn-ea"/>
              </a:rPr>
              <a:t> Introduce to information security</a:t>
            </a:r>
            <a:endParaRPr lang="en-US" altLang="zh-CN"/>
          </a:p>
          <a:p>
            <a:pPr>
              <a:buNone/>
            </a:pPr>
            <a:endParaRPr lang="en-US" altLang="zh-CN"/>
          </a:p>
          <a:p>
            <a:r>
              <a:rPr lang="en-US" altLang="zh-CN"/>
              <a:t>C++ Language programing  teaching</a:t>
            </a:r>
            <a:endParaRPr lang="en-US" altLang="zh-CN"/>
          </a:p>
          <a:p>
            <a:pPr lvl="1"/>
            <a:r>
              <a:rPr lang="en-US" altLang="zh-CN"/>
              <a:t>To all freshman who  major in Computer Science and Technology since 2015.</a:t>
            </a:r>
            <a:endParaRPr lang="en-US" altLang="zh-CN"/>
          </a:p>
          <a:p>
            <a:pPr lvl="1"/>
            <a:r>
              <a:rPr lang="en-US" altLang="zh-CN"/>
              <a:t>Push each student code more than 5000 lines program.</a:t>
            </a: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2. Academic competence &amp; Teaching experience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3. Structure, content, logic, teaching method, manner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Teaching method</a:t>
            </a:r>
            <a:endParaRPr lang="en-US" altLang="zh-CN"/>
          </a:p>
          <a:p>
            <a:pPr lvl="1"/>
            <a:r>
              <a:rPr lang="en-US" altLang="zh-CN"/>
              <a:t>Learning by Doing</a:t>
            </a:r>
            <a:endParaRPr lang="en-US" altLang="zh-CN"/>
          </a:p>
          <a:p>
            <a:pPr lvl="0"/>
            <a:r>
              <a:rPr lang="en-US" altLang="zh-CN"/>
              <a:t>Stucture and content</a:t>
            </a:r>
            <a:endParaRPr lang="en-US" altLang="zh-CN"/>
          </a:p>
          <a:p>
            <a:pPr lvl="1"/>
            <a:r>
              <a:rPr lang="en-US" altLang="zh-CN"/>
              <a:t>Cpp is better C. (Function overload, Reference, class)</a:t>
            </a:r>
            <a:endParaRPr lang="en-US" altLang="zh-CN"/>
          </a:p>
          <a:p>
            <a:pPr lvl="2"/>
            <a:r>
              <a:rPr lang="en-US" altLang="zh-CN"/>
              <a:t>Projects:  clock, date, Complex, fraction</a:t>
            </a:r>
            <a:endParaRPr lang="en-US" altLang="zh-CN"/>
          </a:p>
          <a:p>
            <a:pPr lvl="1"/>
            <a:r>
              <a:rPr lang="en-US" altLang="zh-CN"/>
              <a:t>Templates (that can operate with generic types)</a:t>
            </a:r>
            <a:endParaRPr lang="en-US" altLang="zh-CN"/>
          </a:p>
          <a:p>
            <a:pPr lvl="2"/>
            <a:r>
              <a:rPr lang="en-US" altLang="zh-CN"/>
              <a:t>Projects:  Set (operator + &amp; -) </a:t>
            </a:r>
            <a:endParaRPr lang="en-US" altLang="zh-CN"/>
          </a:p>
          <a:p>
            <a:pPr lvl="1"/>
            <a:r>
              <a:rPr lang="en-US" altLang="zh-CN"/>
              <a:t>Memory Management (new,delete, copy constructor, deconstructor )</a:t>
            </a:r>
            <a:endParaRPr lang="en-US" altLang="zh-CN"/>
          </a:p>
          <a:p>
            <a:pPr lvl="2"/>
            <a:r>
              <a:rPr lang="en-US" altLang="zh-CN"/>
              <a:t>Projects: DynamicVector,  DynamicList</a:t>
            </a:r>
            <a:endParaRPr lang="en-US" altLang="zh-CN"/>
          </a:p>
          <a:p>
            <a:pPr lvl="1"/>
            <a:r>
              <a:rPr lang="en-US" altLang="zh-CN"/>
              <a:t>Inheritance &amp; Design Mode ( Object Oriented Design and Programming)</a:t>
            </a:r>
            <a:endParaRPr lang="en-US" altLang="zh-CN"/>
          </a:p>
          <a:p>
            <a:pPr lvl="2"/>
            <a:r>
              <a:rPr lang="en-US" altLang="zh-CN"/>
              <a:t>Projects:  virutal function, bridge mode, smart pointer, builder mode </a:t>
            </a:r>
            <a:endParaRPr lang="en-US" altLang="zh-CN"/>
          </a:p>
          <a:p>
            <a:pPr lvl="1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2.xml><?xml version="1.0" encoding="utf-8"?>
<p:tagLst xmlns:p="http://schemas.openxmlformats.org/presentationml/2006/main">
  <p:tag name="KSO_WM_UNIT_ISCONTENTSTITLE" val="0"/>
  <p:tag name="KSO_WM_UNIT_PRESET_TEXT" val="空白演示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PRESET_TEXT" val="在此输入您的封面副标题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LIDE_MODEL_TYPE" val="cover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2164</Words>
  <Application>WPS 演示</Application>
  <PresentationFormat>宽屏</PresentationFormat>
  <Paragraphs>69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Arial Unicode MS</vt:lpstr>
      <vt:lpstr>Wingdings</vt:lpstr>
      <vt:lpstr>Office 主题​​</vt:lpstr>
      <vt:lpstr>空白演示</vt:lpstr>
      <vt:lpstr>PowerPoint 演示文稿</vt:lpstr>
      <vt:lpstr>PowerPoint 演示文稿</vt:lpstr>
      <vt:lpstr>PowerPoint 演示文稿</vt:lpstr>
      <vt:lpstr>2. Academic competence &amp; Teaching experience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吕春利</cp:lastModifiedBy>
  <cp:revision>2</cp:revision>
  <dcterms:created xsi:type="dcterms:W3CDTF">2019-05-23T02:47:19Z</dcterms:created>
  <dcterms:modified xsi:type="dcterms:W3CDTF">2019-05-23T04:10:14Z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2052-11.1.0.8696</vt:lpwstr>
  </property>
</Properties>
</file>